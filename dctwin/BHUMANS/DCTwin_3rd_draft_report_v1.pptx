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64008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DCTwin — 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852A"/>
                </a:solidFill>
                <a:latin typeface="Calibri"/>
              </a:rPr>
              <a:t>Physics-based digital twin · safe weekly cooling optimization · live learning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3E6"/>
                </a:solidFill>
                <a:latin typeface="Calibri"/>
              </a:rPr>
              <a:t>Six consecutive weeks planned, safety-gated, deployed and measured —
savings ramp 0 → 3.6% while every rack inlet stayed under the 26 °C cap.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Progress report v1 —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Headline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Nov 8 – Dec 13 2024 planning weeks · all numbers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3520440" cy="19659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3A5F"/>
                </a:solidFill>
                <a:latin typeface="Calibri"/>
              </a:rPr>
              <a:t>6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55555"/>
                </a:solidFill>
                <a:latin typeface="Calibri"/>
              </a:rPr>
              <a:t>consecutive weekly cycles: plan → safety-gate →
expert approve → deploy → measure →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463040"/>
            <a:ext cx="3520440" cy="19659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62763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852A"/>
                </a:solidFill>
                <a:latin typeface="Calibri"/>
              </a:rPr>
              <a:t>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359152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55555"/>
                </a:solidFill>
                <a:latin typeface="Calibri"/>
              </a:rPr>
              <a:t>cooling-energy saving vs the as-operated baseline
(week 6) — released stepwise by the safety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463040"/>
            <a:ext cx="3520440" cy="19659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2763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359152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55555"/>
                </a:solidFill>
                <a:latin typeface="Calibri"/>
              </a:rPr>
              <a:t>inlet-temperature violations across ALL deployed
weeks — worst realised inlet 25.6 °C vs the 26 °C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3520440" cy="19659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6791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A8E9E"/>
                </a:solidFill>
                <a:latin typeface="Calibri"/>
              </a:rPr>
              <a:t>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99432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55555"/>
                </a:solidFill>
                <a:latin typeface="Calibri"/>
              </a:rPr>
              <a:t>twin prediction error on weekly energy by week 6
(was 1.33% in week 1 — calibration loop learning)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3703320"/>
            <a:ext cx="3520440" cy="19659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86791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A8E9E"/>
                </a:solidFill>
                <a:latin typeface="Calibri"/>
              </a:rPr>
              <a:t>σ ↓ 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599432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55555"/>
                </a:solidFill>
                <a:latin typeface="Calibri"/>
              </a:rPr>
              <a:t>inlet-prediction uncertainty: 1.0 °C prior →
0.14 °C measured after six calibration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703320"/>
            <a:ext cx="3520440" cy="19659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386791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≤ 0.2 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599432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55555"/>
                </a:solidFill>
                <a:latin typeface="Calibri"/>
              </a:rPr>
              <a:t>inlet temperature prediction error every week —
the safety-critical variable is the best-predicted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1 — the twin predicts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Twin fidelity (measured)</a:t>
            </a:r>
          </a:p>
        </p:txBody>
      </p:sp>
      <p:pic>
        <p:nvPicPr>
          <p:cNvPr id="6" name="Picture 5" descr="figA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32" y="1325880"/>
            <a:ext cx="870823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Predicted vs realised weekly cooling energy. The residual learning loop drives prediction error from 1.33% to ~0.1% in six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2 — savings ramp, released by the safety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Energy savings (measured)</a:t>
            </a:r>
          </a:p>
        </p:txBody>
      </p:sp>
      <p:pic>
        <p:nvPicPr>
          <p:cNvPr id="6" name="Picture 5" descr="figB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06" y="1325880"/>
            <a:ext cx="960908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The robust gate only recommends savings it can PROVE safe under plant uncertainty. As measured uncertainty shrinks, provably-safe savings grow: 0 → 3.6%.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3 — zero safety 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Safety record (measured)</a:t>
            </a:r>
          </a:p>
        </p:txBody>
      </p:sp>
      <p:pic>
        <p:nvPicPr>
          <p:cNvPr id="6" name="Picture 5" descr="figC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6" y="1325880"/>
            <a:ext cx="10717823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Realised peak server-inlet temperature per deployed week. Savings rose while the hard 26 °C cap was never breached — margin ≥ 0.4 °C at the worst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these numbers are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The dual-loop framework (recap)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Inner loop — planning in physics:</a:t>
            </a:r>
          </a:p>
          <a:p>
            <a:pPr lvl="1">
              <a:lnSpc>
                <a:spcPct val="118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–  EnergyPlus 9.5 (first-principles building physics) scores every candidate setpoint with a full-week simulation; a beam search finds the cheapest SAFE setpoints (CRAH supply temp · airflow · chilled-water temp → 45 actuators).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Safety: three independent nets, uncertainty hedged exactly once:</a:t>
            </a:r>
          </a:p>
          <a:p>
            <a:pPr lvl="1">
              <a:lnSpc>
                <a:spcPct val="118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–  hard inlet ≤ 26 °C cap in the search · a robust re-check on deliberately degraded plants (worst-case must hold the cap) · a zero-tolerance deploy backstop.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Outer loop — deploy &amp; learn:</a:t>
            </a:r>
          </a:p>
          <a:p>
            <a:pPr lvl="1">
              <a:lnSpc>
                <a:spcPct val="118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–  expert approves → the week runs → realised KPIs feed a calibration that shrinks bias AND uncertainty → the gate releases more savings the next week. This is the ramp in Result 2.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2A8E9E"/>
                </a:solidFill>
                <a:latin typeface="Calibri"/>
              </a:rPr>
              <a:t>•  Honest scope: 'realised' currently comes from a perturbed-plant simulation stand-in (the BMS connector is the next milestone) — the loop, gates and learning are fully exercised end-to-end.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plant being optimized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Physical model</a:t>
            </a:r>
          </a:p>
        </p:txBody>
      </p:sp>
      <p:pic>
        <p:nvPicPr>
          <p:cNvPr id="6" name="Picture 5" descr="fig1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277" y="1325880"/>
            <a:ext cx="898914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From the real EnergyPlus model: 7 stacked halls; the controlled hall (1F 2A) has 22 agent-controlled CRAHs and 2.0 MW of IT load; one shared chilled-water plant.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the optimization is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Verified physics, measured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Well-posed physics (verified by sweep): airflow moves hall cooling energy by 15.5%, chilled-water temp by 3.4% — the search has a real, physical gradient (it was 0.07% before this was fixed).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The energy optimum sits on a thermal cliff — and the gate sees it:</a:t>
            </a:r>
          </a:p>
          <a:p>
            <a:pPr lvl="1">
              <a:lnSpc>
                <a:spcPct val="118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–  minimum airflow + warm chilled water is cheapest but fragile: a 7%-degraded plant pushes inlets past 26 °C. The robust gate measures this on real worst-case simulations and substitutes the cheapest PROVABLY-safe alternative.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Uncertainty is measurement-driven, never guessed:</a:t>
            </a:r>
          </a:p>
          <a:p>
            <a:pPr lvl="1">
              <a:lnSpc>
                <a:spcPct val="118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–  the worst-case ensemble width scales with measured prediction error (empirical-Bayes posterior, floored at a physical ±2% weekly drift bound) — confidence must be earned by deployed weeks.</a:t>
            </a:r>
          </a:p>
          <a:p>
            <a:pPr>
              <a:lnSpc>
                <a:spcPct val="118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311 automated tests (unit + real-EnergyPlus integration); every safety layer is regression-tested.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Engineering since the 3rd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What enabled 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Fixed the robust gate's uncertainty accounting (it double-hedged and deadlocked at cold start — no plan could ever be approved). Savings are now released stepwise, safely.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Safety-ladder substitution: when the optimum is fragile, the planner recommends the cheapest robust alternative along the CHEAP axis (chilled-water first ~3% energy span, airflow last ~15%) instead of blocking.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Operator planning context in the web app: past + forecast IT-load and weather, previous-week setpoints — visible before launching a plan.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Operational hardening: hung-run watchdogs (recovery in minutes, not hours), duplicate-deploy protection, cancel/delete, live progress streaming.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Full review + reproducible agent test harness committed alongside the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Limitations &amp;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Honest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Realised data is simulation-stand-in (perturbed plant), not yet building telemetry — the learning loop is proven end-to-end, its inputs are not yet field data.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Rack-inlet recirculation is calibrated to an assumption (10%), not measured rack sensors — the safety margin is conservative by construction until calibrated.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Weather uses the matched historical file, not a forecast; week-to-week IT load is nearly flat in this hall (~1.3%), so weather dominates.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Next milestone (Tier A): connect the BMS —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shadow mode first (recommend-only, compare against real telemetry for several weeks), then close the loop. The deployment seam is a single adapter call; approval gates, realised-KPI capture and calibration ingest are already built and tested.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F3A5F"/>
                </a:solidFill>
                <a:latin typeface="Calibri"/>
              </a:rPr>
              <a:t>•  Six consecutive measured weeks: the physics twin predicts weekly cooling energy to ~0.1% and the safety-critical inlet temperature to ≤0.2 °C.</a:t>
            </a:r>
          </a:p>
          <a:p>
            <a:pPr>
              <a:lnSpc>
                <a:spcPct val="118000"/>
              </a:lnSpc>
            </a:pPr>
            <a:r>
              <a:rPr sz="1800" b="1">
                <a:solidFill>
                  <a:srgbClr val="E8852A"/>
                </a:solidFill>
                <a:latin typeface="Calibri"/>
              </a:rPr>
              <a:t>•  Savings ramped 0 → 3.6% — released by the robust gate exactly as fast as measured confidence allowed, never faster.</a:t>
            </a:r>
          </a:p>
          <a:p>
            <a:pPr>
              <a:lnSpc>
                <a:spcPct val="118000"/>
              </a:lnSpc>
            </a:pPr>
            <a:r>
              <a:rPr sz="1800" b="1">
                <a:solidFill>
                  <a:srgbClr val="2E7D32"/>
                </a:solidFill>
                <a:latin typeface="Calibri"/>
              </a:rPr>
              <a:t>•  Zero safety violations: every rack inlet under the 26 °C cap, every step, every week.</a:t>
            </a:r>
          </a:p>
          <a:p>
            <a:pPr>
              <a:lnSpc>
                <a:spcPct val="118000"/>
              </a:lnSpc>
            </a:pPr>
            <a:r>
              <a:rPr sz="1800" b="0">
                <a:solidFill>
                  <a:srgbClr val="555555"/>
                </a:solidFill>
                <a:latin typeface="Calibri"/>
              </a:rPr>
              <a:t>•  The framework is ready for its real-world test: shadow-mode connection to the building management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