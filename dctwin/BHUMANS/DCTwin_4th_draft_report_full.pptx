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64008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DCTwin — Digital Twin Dual-Loop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852A"/>
                </a:solidFill>
                <a:latin typeface="Calibri"/>
              </a:rPr>
              <a:t>4th draft · full technical &amp; operational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3E6"/>
                </a:solidFill>
                <a:latin typeface="Calibri"/>
              </a:rPr>
              <a:t>Physics-based weekly cooling optimization, measured over six deployed weeks:
savings 0 → 3.6% · prediction error 1.33% → 0.1% · zero safety violations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4864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The framework — two nested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Matches the original optimization-plan diagram box-for-box</a:t>
            </a:r>
          </a:p>
        </p:txBody>
      </p:sp>
      <p:pic>
        <p:nvPicPr>
          <p:cNvPr id="6" name="Picture 5" descr="fig3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177" y="1280160"/>
            <a:ext cx="10047340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Inner loop: forecast → EnergyPlus physics → beam search → safety filter. Outer loop: pre-validation → expert gate → (shadow) deploy → measure → learn.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Headline results (all measured)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Weeks of 2024-11-08 … 12-13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17320"/>
            <a:ext cx="352044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Calibri"/>
              </a:rPr>
              <a:t>6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consecutive cycles: plan → gate → approve →
shadow-deploy → measure → 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417320"/>
            <a:ext cx="352044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5544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852A"/>
                </a:solidFill>
                <a:latin typeface="Calibri"/>
              </a:rPr>
              <a:t>3.6%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240280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energy saving vs as-operated baseline,
released stepwise by the safety gate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417320"/>
            <a:ext cx="352044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55448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240280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inlet violations — worst realised inlet
25.60 °C vs the 26 °C hard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11880"/>
            <a:ext cx="352044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749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A8E9E"/>
                </a:solidFill>
                <a:latin typeface="Calibri"/>
              </a:rPr>
              <a:t>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twin weekly-energy prediction error by week 6
(1.33% in week 1 — calibration learning)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9976" y="3611880"/>
            <a:ext cx="352044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3749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7D32"/>
                </a:solidFill>
                <a:latin typeface="Calibri"/>
              </a:rPr>
              <a:t>≤0.2 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4434840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inlet prediction error every week —
the safety variable is best-predicted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3611880"/>
            <a:ext cx="3520440" cy="1920240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3749040"/>
            <a:ext cx="3520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Calibri"/>
              </a:rPr>
              <a:t>526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4434840"/>
            <a:ext cx="337413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automated tests green (422 backend +
104 frontend) · 21 API endpoints · 7 UI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Result 1 — the twin predicts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Measured</a:t>
            </a:r>
          </a:p>
        </p:txBody>
      </p:sp>
      <p:pic>
        <p:nvPicPr>
          <p:cNvPr id="6" name="Picture 5" descr="figA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501" y="1280160"/>
            <a:ext cx="8954692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Predicted vs realised weekly cooling energy; the residual calibration loop drives error 1.33% → ~0.1%.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Result 2 — savings released by earned confidence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Measured</a:t>
            </a:r>
          </a:p>
        </p:txBody>
      </p:sp>
      <p:pic>
        <p:nvPicPr>
          <p:cNvPr id="6" name="Picture 5" descr="figB_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328" y="1280160"/>
            <a:ext cx="9881039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The robust gate only passes savings it can PROVE safe; as measured uncertainty σ falls, provably-safe savings rise 0 → 3.6%.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Result 3 — zero violations while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Measured</a:t>
            </a:r>
          </a:p>
        </p:txBody>
      </p:sp>
      <p:pic>
        <p:nvPicPr>
          <p:cNvPr id="6" name="Picture 5" descr="figC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68" y="1280160"/>
            <a:ext cx="11021159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Realised peak inlet per week: rising toward — never past — the cap as the gate spends margin only when confidence allows.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The plant — from the real EnergyPlus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Physical model</a:t>
            </a:r>
          </a:p>
        </p:txBody>
      </p:sp>
      <p:pic>
        <p:nvPicPr>
          <p:cNvPr id="6" name="Picture 5" descr="fig1_buil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071" y="1280160"/>
            <a:ext cx="9243553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7 stacked halls; controlled hall 1F 2A: 22 agent-controlled CRAHs, 2.0 MW IT; one shared chilled-water plant.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Controlled hall detail — 3 setpoints → 45 actuators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Physical model</a:t>
            </a:r>
          </a:p>
        </p:txBody>
      </p:sp>
      <p:pic>
        <p:nvPicPr>
          <p:cNvPr id="6" name="Picture 5" descr="fig2_h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012" y="1280160"/>
            <a:ext cx="9551671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CRAH supply-air temperature (20–26 °C) · airflow (4.8–13.8 kg/s) · chilled-water supply temperature (13–19 °C), broadcast to 22+22+1 actuators.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Why the optimization is well-posed (verified by sweep)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Validation</a:t>
            </a:r>
          </a:p>
        </p:txBody>
      </p:sp>
      <p:pic>
        <p:nvPicPr>
          <p:cNvPr id="6" name="Picture 5" descr="fig4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357" y="1280160"/>
            <a:ext cx="9788980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Real-E+ sweeps: airflow moves hall energy 15.5%, CHWST 3.4%, SAT ~0.5% — a true physical gradient with the safety cap binding.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The safety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Safety never trades against energy or price</a:t>
            </a:r>
          </a:p>
        </p:txBody>
      </p:sp>
      <p:pic>
        <p:nvPicPr>
          <p:cNvPr id="6" name="Picture 5" descr="figD_safet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08" y="1280160"/>
            <a:ext cx="10133078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Hard cap with k·σ margin in search; a data-centered worst-case ensemble (plant ±σ_post + hot-weather week) against the hard cap; a zero-tolerance deploy backstop.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Technical: the planning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Inner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Oracle: every candidate = a full-week EnergyPlus 9.5 run (Docker/BCVTB), fanned across a process pool; per-candidate watchdog (300 s) + batch deadline + stall watchdog (1.5× timeout) bound any hang to minutes.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Search: coarse grid (g³ over the 3-setpoint space) → top-B beam → halving-step refinement; optional day/night time-blocks; degenerate-signal detection.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Objective: weekly hall-scoped HVAC energy (ACU fans + shared CHW plant) — or, when data/tariff.json exists, the 24-hour tariff/carbon-weighted cost. Soft penalties: inlet excess, RH excursion, zone band.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Live recirculation fidelity: recirc fraction estimated from rack inlets (mixing identity); flow-shortfall model adds a conservative-only inlet penalty; provable no-op until field-calibrated (fit_recirc.py).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Forecasting: IT load (persistence/seasonal + calendar alignment, p10/50/90 bands); weather via historical-analog mean+σ with EPW variants — the +1σ hot week joins the robust ensemble.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Technical: the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Outer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</a:pPr>
            <a:r>
              <a:rPr sz="1450" b="1">
                <a:solidFill>
                  <a:srgbClr val="1F3A5F"/>
                </a:solidFill>
                <a:latin typeface="Calibri"/>
              </a:rPr>
              <a:t>•  After every deployed week: paired (predicted, realised) KPIs update per-KPI bias + two uncertainties:</a:t>
            </a:r>
          </a:p>
          <a:p>
            <a:pPr lvl="1">
              <a:lnSpc>
                <a:spcPct val="116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–  fading-floor σ = max(sample, prior/n) → the nominal k·σ search margin (never under-states early);</a:t>
            </a:r>
          </a:p>
          <a:p>
            <a:pPr lvl="1">
              <a:lnSpc>
                <a:spcPct val="116000"/>
              </a:lnSpc>
            </a:pPr>
            <a:r>
              <a:rPr sz="1250" b="0">
                <a:solidFill>
                  <a:srgbClr val="555555"/>
                </a:solidFill>
                <a:latin typeface="Calibri"/>
              </a:rPr>
              <a:t>–  empirical-Bayes σ_post = √((n·s² + σ₀²)/(n+1)) → sizes the robust ensemble (evidence tightens it; ±2% physical floor).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Physics re-calibration: persistent energy bias over ≥4 weeks fits a bounded fan-efficiency correction (clip ±15%) → data/plant_calibration.json → becomes the ensemble's CENTER (the believed plant state is data-driven).</a:t>
            </a:r>
          </a:p>
          <a:p>
            <a:pPr>
              <a:lnSpc>
                <a:spcPct val="116000"/>
              </a:lnSpc>
            </a:pPr>
            <a:r>
              <a:rPr sz="1450" b="1">
                <a:solidFill>
                  <a:srgbClr val="2E7D32"/>
                </a:solidFill>
                <a:latin typeface="Calibri"/>
              </a:rPr>
              <a:t>•  Measured: n=7 calibration weeks · inlet bias 0.005 °C · σ_inlet 1.0 (prior) → 0.14 °C (measured).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Safety-ladder substitution: when the energy optimum is fragile under the ensemble, the cheapest PROVABLY-robust alternative is recommended (chilled-water-first — ~3% energy span vs ~15% for airflow), never an unactionable block.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Closing the loop to reality — the seams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Field connection = config + one adapter class, not a rebuild</a:t>
            </a:r>
          </a:p>
        </p:txBody>
      </p:sp>
      <p:pic>
        <p:nvPicPr>
          <p:cNvPr id="6" name="Picture 5" descr="figE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45" y="1280160"/>
            <a:ext cx="9806204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Shadow deploys record the exact 45-command artifact a field adapter will write; telemetry accepts any historian push; simulated data is always labelled.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Operator cockpit — live monitoring (real screenshot)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Expert Supervision: real-time monitoring</a:t>
            </a:r>
          </a:p>
        </p:txBody>
      </p:sp>
      <p:pic>
        <p:nvPicPr>
          <p:cNvPr id="6" name="Picture 5" descr="liv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36" y="1280160"/>
            <a:ext cx="5014823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22-rack heat-map · alert banner (warn ≥25 °C, critical ≥26 °C) · ranked rack hotspot table · commanded-vs-held setpoint compliance · rolling charts · SIMULATED badge.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Operator cockpit — 3-D twin with live rack colors (real screenshot)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Hotspot visibility</a:t>
            </a:r>
          </a:p>
        </p:txBody>
      </p:sp>
      <p:pic>
        <p:nvPicPr>
          <p:cNvPr id="6" name="Picture 5" descr="twin3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555" y="1280160"/>
            <a:ext cx="6714584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The controlled hall's rack rows colored from live telemetry (5 s refresh) with legend; HUD shows the active plan's setpoints and KPIs.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Operational procedure — one week, one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Operator runbook</a:t>
            </a:r>
          </a:p>
        </p:txBody>
      </p:sp>
      <p:pic>
        <p:nvPicPr>
          <p:cNvPr id="6" name="Picture 5" descr="figF_proced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22" y="1280160"/>
            <a:ext cx="11034850" cy="49834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alibri"/>
              </a:rPr>
              <a:t>Monitor → plan (context decks) → review (trajectories vs 26 °C) → expert approve → shadow deploy → learn. Every cycle tightens σ and unlocks more savings.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Operational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What operators should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</a:pPr>
            <a:r>
              <a:rPr sz="1450" b="1">
                <a:solidFill>
                  <a:srgbClr val="E8852A"/>
                </a:solidFill>
                <a:latin typeface="Calibri"/>
              </a:rPr>
              <a:t>•  blocked_unsafe is the system WORKING: the gate refused a plan it could not prove safe — it cannot be force-approved by design. Re-plan or accept the substituted robust alternative.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All simulated data is labelled (SIMULATED FEED badge; deploy artifacts say actuated:false) — no one can mistake rehearsal for reality.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Restarting the backend kills a running plan (orphans are marked failed, never lost silently); cancel from the UI first. A wedged run recovers in minutes (stall watchdog + driver unstick).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Old plans (schema &lt;1.7) show '—' for baseline/reduction by design; re-run to compare. Artifacts are schema-versioned 1.0→1.8, additive.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Alerts: warn at 25 °C (margin &lt;1 °C), critical at 26 °C; compliance flags drift &gt;0.5 per axis vs the deployed command.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Reproducible operations: scripts/clear-and-run.sh for humans; the committed /run-dctwin driver (start/smoke/plan/screenshot/unstick) for agents and CI.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Implemented vs not — honest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vs the original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</a:pPr>
            <a:r>
              <a:rPr sz="1450" b="1">
                <a:solidFill>
                  <a:srgbClr val="2E7D32"/>
                </a:solidFill>
                <a:latin typeface="Calibri"/>
              </a:rPr>
              <a:t>•  ✅ Every box of the original diagram is implemented: forecaster (load + weather), EnergyPlus model, heuristic planner, unsafe-action filtering, pre-validation, expert supervision incl. REAL-TIME monitoring, system-data feedback.</a:t>
            </a:r>
          </a:p>
          <a:p>
            <a:pPr>
              <a:lnSpc>
                <a:spcPct val="116000"/>
              </a:lnSpc>
            </a:pPr>
            <a:r>
              <a:rPr sz="1450" b="1">
                <a:solidFill>
                  <a:srgbClr val="E8852A"/>
                </a:solidFill>
                <a:latin typeface="Calibri"/>
              </a:rPr>
              <a:t>•  🟡 Authorized commands to the real DC: SHADOW mode (recorded, not actuated). The BACnet adapter is an explicit one-class seam; field access is the only blocker.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E8852A"/>
                </a:solidFill>
                <a:latin typeface="Calibri"/>
              </a:rPr>
              <a:t>•  🟡 'Realised' data is a perturbed-plant simulation stand-in until a real collector connects — the learning loop is structurally proven, not yet field-proven.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Deliberately out of scope: humidity as a control actuator (monitored + penalized only), intra-week automatic re-planning, CI browser E2E (manual driver covers it).</a:t>
            </a:r>
          </a:p>
          <a:p>
            <a:pPr>
              <a:lnSpc>
                <a:spcPct val="116000"/>
              </a:lnSpc>
            </a:pPr>
            <a:r>
              <a:rPr sz="1450" b="0">
                <a:solidFill>
                  <a:srgbClr val="555555"/>
                </a:solidFill>
                <a:latin typeface="Calibri"/>
              </a:rPr>
              <a:t>•  Known caveats: recirc margin optimistic until field-calibrated; analog-σ weather understates synoptic extremes (+1σ hot scenario partially compensates); IT load ~flat so weather dominates.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3E6"/>
                </a:solidFill>
                <a:latin typeface="Calibri"/>
              </a:rPr>
              <a:t>The path to 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115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</a:pPr>
            <a:r>
              <a:rPr sz="1500" b="1">
                <a:solidFill>
                  <a:srgbClr val="1F3A5F"/>
                </a:solidFill>
                <a:latin typeface="Calibri"/>
              </a:rPr>
              <a:t>•  1 · Field pilot, shadow-first: real collector → POST /api/telemetry; implement BacnetBmsAdapter; recommend-only 4–8 weeks; then actuate hall-by-hall.</a:t>
            </a:r>
          </a:p>
          <a:p>
            <a:pPr>
              <a:lnSpc>
                <a:spcPct val="116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2 · Calibrate recirculation from the first real rack-inlet data (fit_recirc.py) — de-risks the safety margin directly.</a:t>
            </a:r>
          </a:p>
          <a:p>
            <a:pPr>
              <a:lnSpc>
                <a:spcPct val="116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3 · Swap the weather provider seam to a real short-horizon forecast API (downstream unchanged).</a:t>
            </a:r>
          </a:p>
          <a:p>
            <a:pPr>
              <a:lnSpc>
                <a:spcPct val="116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4 · Load the site tariff / grid-carbon profile (data/tariff.json) to optimize the operator's true target.</a:t>
            </a:r>
          </a:p>
          <a:p>
            <a:pPr>
              <a:lnSpc>
                <a:spcPct val="116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5 · Let robustness grow with data: σ_post tightens and the ensemble re-centers automatically; raise n_scenarios for high-stakes weeks.</a:t>
            </a:r>
          </a:p>
          <a:p>
            <a:pPr>
              <a:lnSpc>
                <a:spcPct val="116000"/>
              </a:lnSpc>
            </a:pPr>
            <a:r>
              <a:rPr sz="1500" b="0">
                <a:solidFill>
                  <a:srgbClr val="555555"/>
                </a:solidFill>
                <a:latin typeface="Calibri"/>
              </a:rPr>
              <a:t>•  6 · Operator hardening: alert webhooks, guided mid-week re-plan, per-ACU power telemetry, CI-managed E2E.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88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</a:pPr>
            <a:r>
              <a:rPr sz="1700" b="1">
                <a:solidFill>
                  <a:srgbClr val="1F3A5F"/>
                </a:solidFill>
                <a:latin typeface="Calibri"/>
              </a:rPr>
              <a:t>•  A physics-based digital twin + web cockpit that plans a data-center's cooling week and proves its recommendations safe before anyone acts on them.</a:t>
            </a:r>
          </a:p>
          <a:p>
            <a:pPr>
              <a:lnSpc>
                <a:spcPct val="116000"/>
              </a:lnSpc>
            </a:pPr>
            <a:r>
              <a:rPr sz="1700" b="1">
                <a:solidFill>
                  <a:srgbClr val="E8852A"/>
                </a:solidFill>
                <a:latin typeface="Calibri"/>
              </a:rPr>
              <a:t>•  Measured, not promised: 6 deployed weeks · 0.1% energy prediction error · 0 → 3.6% savings released by earned confidence · zero violations.</a:t>
            </a:r>
          </a:p>
          <a:p>
            <a:pPr>
              <a:lnSpc>
                <a:spcPct val="116000"/>
              </a:lnSpc>
            </a:pPr>
            <a:r>
              <a:rPr sz="1700" b="0">
                <a:solidFill>
                  <a:srgbClr val="555555"/>
                </a:solidFill>
                <a:latin typeface="Calibri"/>
              </a:rPr>
              <a:t>•  Live monitoring, shadow deploys, telemetry seams, physics re-calibration, weather + tariff awareness — all tested (526 green) and labelled honestly.</a:t>
            </a:r>
          </a:p>
          <a:p>
            <a:pPr>
              <a:lnSpc>
                <a:spcPct val="116000"/>
              </a:lnSpc>
            </a:pPr>
            <a:r>
              <a:rPr sz="1700" b="1">
                <a:solidFill>
                  <a:srgbClr val="2E7D32"/>
                </a:solidFill>
                <a:latin typeface="Calibri"/>
              </a:rPr>
              <a:t>•  One step remains to the field, and it is config-shaped: connect real telemetry and the BACnet adapter behind seams that already exist.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