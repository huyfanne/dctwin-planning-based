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109728"/>
          </a:xfrm>
          <a:prstGeom prst="roundRect">
            <a:avLst>
              <a:gd name="adj" fmla="val 0"/>
            </a:avLst>
          </a:prstGeom>
          <a:solidFill>
            <a:srgbClr val="22C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spc="240">
                <a:solidFill>
                  <a:srgbClr val="22C8E6"/>
                </a:solidFill>
                <a:latin typeface="Calibri"/>
              </a:rPr>
              <a:t>DIGITAL TWIN · DATA-CENTER COOLING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300" b="1">
                <a:solidFill>
                  <a:srgbClr val="EAF1FB"/>
                </a:solidFill>
                <a:latin typeface="Calibri"/>
              </a:rPr>
              <a:t>Digital Twin Dual-Loop Control 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17320"/>
            <a:ext cx="11064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0">
                <a:solidFill>
                  <a:srgbClr val="8AA0B8"/>
                </a:solidFill>
                <a:latin typeface="Calibri"/>
              </a:rPr>
              <a:t>Weekly setpoint optimization with EnergyPlus 9.5 simulated in the loop — no surrogate, no MPC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84831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spc="120">
                <a:solidFill>
                  <a:srgbClr val="22C8E6"/>
                </a:solidFill>
                <a:latin typeface="Calibri"/>
              </a:rPr>
              <a:t>INNER LOOP  </a:t>
            </a:r>
            <a:r>
              <a:rPr sz="1150" b="0" spc="120">
                <a:solidFill>
                  <a:srgbClr val="8AA0B8"/>
                </a:solidFill>
                <a:latin typeface="Calibri"/>
              </a:rPr>
              <a:t>· planning, fast, all inside the twin (no human)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95728"/>
            <a:ext cx="1975104" cy="932688"/>
          </a:xfrm>
          <a:prstGeom prst="roundRect">
            <a:avLst>
              <a:gd name="adj" fmla="val 8000"/>
            </a:avLst>
          </a:prstGeom>
          <a:solidFill>
            <a:srgbClr val="141F33"/>
          </a:solidFill>
          <a:ln w="9525">
            <a:solidFill>
              <a:srgbClr val="2A3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2395728"/>
            <a:ext cx="64008" cy="932688"/>
          </a:xfrm>
          <a:prstGeom prst="roundRect">
            <a:avLst>
              <a:gd name="adj" fmla="val 50000"/>
            </a:avLst>
          </a:prstGeom>
          <a:solidFill>
            <a:srgbClr val="22C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2514600"/>
            <a:ext cx="1719072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EAF1FB"/>
                </a:solidFill>
                <a:latin typeface="Calibri"/>
              </a:rPr>
              <a:t>Forecaster
</a:t>
            </a:r>
            <a:r>
              <a:rPr sz="950" b="0">
                <a:solidFill>
                  <a:srgbClr val="8AA0B8"/>
                </a:solidFill>
                <a:latin typeface="Calibri"/>
              </a:rPr>
              <a:t>week-ahead IT load + weather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32888" y="2679191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22C8E6"/>
                </a:solidFill>
                <a:latin typeface="Calibri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98064" y="2395728"/>
            <a:ext cx="1975104" cy="932688"/>
          </a:xfrm>
          <a:prstGeom prst="roundRect">
            <a:avLst>
              <a:gd name="adj" fmla="val 8000"/>
            </a:avLst>
          </a:prstGeom>
          <a:solidFill>
            <a:srgbClr val="141F33"/>
          </a:solidFill>
          <a:ln w="9525">
            <a:solidFill>
              <a:srgbClr val="2A3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798064" y="2395728"/>
            <a:ext cx="64008" cy="932688"/>
          </a:xfrm>
          <a:prstGeom prst="roundRect">
            <a:avLst>
              <a:gd name="adj" fmla="val 50000"/>
            </a:avLst>
          </a:prstGeom>
          <a:solidFill>
            <a:srgbClr val="22C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62656" y="2514600"/>
            <a:ext cx="1719072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EAF1FB"/>
                </a:solidFill>
                <a:latin typeface="Calibri"/>
              </a:rPr>
              <a:t>Beam Search
</a:t>
            </a:r>
            <a:r>
              <a:rPr sz="950" b="0">
                <a:solidFill>
                  <a:srgbClr val="8AA0B8"/>
                </a:solidFill>
                <a:latin typeface="Calibri"/>
              </a:rPr>
              <a:t>best-first over 3 setpoints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82312" y="2679191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22C8E6"/>
                </a:solidFill>
                <a:latin typeface="Calibri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47488" y="2395728"/>
            <a:ext cx="1975104" cy="932688"/>
          </a:xfrm>
          <a:prstGeom prst="roundRect">
            <a:avLst>
              <a:gd name="adj" fmla="val 8000"/>
            </a:avLst>
          </a:prstGeom>
          <a:solidFill>
            <a:srgbClr val="141F33"/>
          </a:solidFill>
          <a:ln w="9525">
            <a:solidFill>
              <a:srgbClr val="2A3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047488" y="2395728"/>
            <a:ext cx="64008" cy="932688"/>
          </a:xfrm>
          <a:prstGeom prst="roundRect">
            <a:avLst>
              <a:gd name="adj" fmla="val 50000"/>
            </a:avLst>
          </a:prstGeom>
          <a:solidFill>
            <a:srgbClr val="22C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79" y="2514600"/>
            <a:ext cx="1719072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EAF1FB"/>
                </a:solidFill>
                <a:latin typeface="Calibri"/>
              </a:rPr>
              <a:t>EnergyPlus 9.5
</a:t>
            </a:r>
            <a:r>
              <a:rPr sz="950" b="0">
                <a:solidFill>
                  <a:srgbClr val="8AA0B8"/>
                </a:solidFill>
                <a:latin typeface="Calibri"/>
              </a:rPr>
              <a:t>full-week twin scores each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31736" y="2679191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22C8E6"/>
                </a:solidFill>
                <a:latin typeface="Calibri"/>
              </a:rPr>
              <a:t>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96912" y="2395728"/>
            <a:ext cx="1975104" cy="932688"/>
          </a:xfrm>
          <a:prstGeom prst="roundRect">
            <a:avLst>
              <a:gd name="adj" fmla="val 8000"/>
            </a:avLst>
          </a:prstGeom>
          <a:solidFill>
            <a:srgbClr val="141F33"/>
          </a:solidFill>
          <a:ln w="9525">
            <a:solidFill>
              <a:srgbClr val="2A3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296912" y="2395728"/>
            <a:ext cx="64008" cy="932688"/>
          </a:xfrm>
          <a:prstGeom prst="roundRect">
            <a:avLst>
              <a:gd name="adj" fmla="val 50000"/>
            </a:avLst>
          </a:prstGeom>
          <a:solidFill>
            <a:srgbClr val="22C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61504" y="2514600"/>
            <a:ext cx="1719072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EAF1FB"/>
                </a:solidFill>
                <a:latin typeface="Calibri"/>
              </a:rPr>
              <a:t>Safety Filter
</a:t>
            </a:r>
            <a:r>
              <a:rPr sz="950" b="0">
                <a:solidFill>
                  <a:srgbClr val="8AA0B8"/>
                </a:solidFill>
                <a:latin typeface="Calibri"/>
              </a:rPr>
              <a:t>reject inlet &gt; 26 °C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81160" y="2679191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22C8E6"/>
                </a:solidFill>
                <a:latin typeface="Calibri"/>
              </a:rP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546336" y="2395728"/>
            <a:ext cx="1975104" cy="932688"/>
          </a:xfrm>
          <a:prstGeom prst="roundRect">
            <a:avLst>
              <a:gd name="adj" fmla="val 8000"/>
            </a:avLst>
          </a:prstGeom>
          <a:solidFill>
            <a:srgbClr val="141F33"/>
          </a:solidFill>
          <a:ln w="9525">
            <a:solidFill>
              <a:srgbClr val="2A3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546336" y="2395728"/>
            <a:ext cx="64008" cy="932688"/>
          </a:xfrm>
          <a:prstGeom prst="roundRect">
            <a:avLst>
              <a:gd name="adj" fmla="val 50000"/>
            </a:avLst>
          </a:prstGeom>
          <a:solidFill>
            <a:srgbClr val="22C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10928" y="2514600"/>
            <a:ext cx="1719072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EAF1FB"/>
                </a:solidFill>
                <a:latin typeface="Calibri"/>
              </a:rPr>
              <a:t>Recommendation
</a:t>
            </a:r>
            <a:r>
              <a:rPr sz="950" b="0">
                <a:solidFill>
                  <a:srgbClr val="8AA0B8"/>
                </a:solidFill>
                <a:latin typeface="Calibri"/>
              </a:rPr>
              <a:t>best feasible plan.json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3584448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spc="120">
                <a:solidFill>
                  <a:srgbClr val="10B981"/>
                </a:solidFill>
                <a:latin typeface="Calibri"/>
              </a:rPr>
              <a:t>OUTER LOOP  </a:t>
            </a:r>
            <a:r>
              <a:rPr sz="1150" b="0" spc="120">
                <a:solidFill>
                  <a:srgbClr val="8AA0B8"/>
                </a:solidFill>
                <a:latin typeface="Calibri"/>
              </a:rPr>
              <a:t>· weekly operation, human-in-the-loop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3895344"/>
            <a:ext cx="2542032" cy="868680"/>
          </a:xfrm>
          <a:prstGeom prst="roundRect">
            <a:avLst>
              <a:gd name="adj" fmla="val 8000"/>
            </a:avLst>
          </a:prstGeom>
          <a:solidFill>
            <a:srgbClr val="141F33"/>
          </a:solidFill>
          <a:ln w="9525">
            <a:solidFill>
              <a:srgbClr val="2A3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48640" y="3895344"/>
            <a:ext cx="64008" cy="86868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3232" y="4014215"/>
            <a:ext cx="22860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EAF1FB"/>
                </a:solidFill>
                <a:latin typeface="Calibri"/>
              </a:rPr>
              <a:t>Pre-validation
</a:t>
            </a:r>
            <a:r>
              <a:rPr sz="950" b="0">
                <a:solidFill>
                  <a:srgbClr val="8AA0B8"/>
                </a:solidFill>
                <a:latin typeface="Calibri"/>
              </a:rPr>
              <a:t>independent replay + report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80004" y="4146803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10B981"/>
                </a:solidFill>
                <a:latin typeface="Calibri"/>
              </a:rPr>
              <a:t>›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398520" y="3895344"/>
            <a:ext cx="2542032" cy="868680"/>
          </a:xfrm>
          <a:prstGeom prst="roundRect">
            <a:avLst>
              <a:gd name="adj" fmla="val 8000"/>
            </a:avLst>
          </a:prstGeom>
          <a:solidFill>
            <a:srgbClr val="141F33"/>
          </a:solidFill>
          <a:ln w="9525">
            <a:solidFill>
              <a:srgbClr val="2A3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3398520" y="3895344"/>
            <a:ext cx="64008" cy="86868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63112" y="4014215"/>
            <a:ext cx="22860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EAF1FB"/>
                </a:solidFill>
                <a:latin typeface="Calibri"/>
              </a:rPr>
              <a:t>Expert Approve / Reject
</a:t>
            </a:r>
            <a:r>
              <a:rPr sz="950" b="0">
                <a:solidFill>
                  <a:srgbClr val="8AA0B8"/>
                </a:solidFill>
                <a:latin typeface="Calibri"/>
              </a:rPr>
              <a:t>robust-feasibility gate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29884" y="4146803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10B981"/>
                </a:solidFill>
                <a:latin typeface="Calibri"/>
              </a:rPr>
              <a:t>›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48400" y="3895344"/>
            <a:ext cx="2542032" cy="868680"/>
          </a:xfrm>
          <a:prstGeom prst="roundRect">
            <a:avLst>
              <a:gd name="adj" fmla="val 8000"/>
            </a:avLst>
          </a:prstGeom>
          <a:solidFill>
            <a:srgbClr val="141F33"/>
          </a:solidFill>
          <a:ln w="9525">
            <a:solidFill>
              <a:srgbClr val="2A3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248400" y="3895344"/>
            <a:ext cx="64008" cy="86868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12992" y="4014215"/>
            <a:ext cx="22860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EAF1FB"/>
                </a:solidFill>
                <a:latin typeface="Calibri"/>
              </a:rPr>
              <a:t>Deploy → Realized KPIs
</a:t>
            </a:r>
            <a:r>
              <a:rPr sz="950" b="0">
                <a:solidFill>
                  <a:srgbClr val="8AA0B8"/>
                </a:solidFill>
                <a:latin typeface="Calibri"/>
              </a:rPr>
              <a:t>sim plant; safety backstop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79764" y="4146803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10B981"/>
                </a:solidFill>
                <a:latin typeface="Calibri"/>
              </a:rPr>
              <a:t>›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098280" y="3895344"/>
            <a:ext cx="2542032" cy="868680"/>
          </a:xfrm>
          <a:prstGeom prst="roundRect">
            <a:avLst>
              <a:gd name="adj" fmla="val 8000"/>
            </a:avLst>
          </a:prstGeom>
          <a:solidFill>
            <a:srgbClr val="141F33"/>
          </a:solidFill>
          <a:ln w="9525">
            <a:solidFill>
              <a:srgbClr val="2A3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9098280" y="3895344"/>
            <a:ext cx="64008" cy="86868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262872" y="4014215"/>
            <a:ext cx="22860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EAF1FB"/>
                </a:solidFill>
                <a:latin typeface="Calibri"/>
              </a:rPr>
              <a:t>Calibrate + Re-plan
</a:t>
            </a:r>
            <a:r>
              <a:rPr sz="950" b="0">
                <a:solidFill>
                  <a:srgbClr val="8AA0B8"/>
                </a:solidFill>
                <a:latin typeface="Calibri"/>
              </a:rPr>
              <a:t>realized data tunes next week ↺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48640" y="5138928"/>
            <a:ext cx="11091672" cy="1078992"/>
          </a:xfrm>
          <a:prstGeom prst="roundRect">
            <a:avLst>
              <a:gd name="adj" fmla="val 8000"/>
            </a:avLst>
          </a:prstGeom>
          <a:solidFill>
            <a:srgbClr val="10192A"/>
          </a:solidFill>
          <a:ln w="15875">
            <a:solidFill>
              <a:srgbClr val="0E7C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68680" y="5285232"/>
            <a:ext cx="29260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2000"/>
              </a:lnSpc>
            </a:pPr>
            <a:r>
              <a:rPr sz="4000" b="1">
                <a:solidFill>
                  <a:srgbClr val="22C8E6"/>
                </a:solidFill>
                <a:latin typeface="Calibri"/>
              </a:rPr>
              <a:t>11.4%
</a:t>
            </a:r>
            <a:r>
              <a:rPr sz="1300" b="1">
                <a:solidFill>
                  <a:srgbClr val="EAF1FB"/>
                </a:solidFill>
                <a:latin typeface="Calibri"/>
              </a:rPr>
              <a:t>HVAC energy ↓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977639" y="5340096"/>
            <a:ext cx="18288" cy="676656"/>
          </a:xfrm>
          <a:prstGeom prst="roundRect">
            <a:avLst>
              <a:gd name="adj" fmla="val 0"/>
            </a:avLst>
          </a:prstGeom>
          <a:solidFill>
            <a:srgbClr val="2A3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297680" y="5303520"/>
            <a:ext cx="32004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0B981"/>
                </a:solidFill>
                <a:latin typeface="Calibri"/>
              </a:rPr>
              <a:t>0 violations
</a:t>
            </a:r>
            <a:r>
              <a:rPr sz="1050" b="0">
                <a:solidFill>
                  <a:srgbClr val="8AA0B8"/>
                </a:solidFill>
                <a:latin typeface="Calibri"/>
              </a:rPr>
              <a:t>inlet ≤ 26 °C every step (acceptance week)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772400" y="5340096"/>
            <a:ext cx="18288" cy="676656"/>
          </a:xfrm>
          <a:prstGeom prst="roundRect">
            <a:avLst>
              <a:gd name="adj" fmla="val 0"/>
            </a:avLst>
          </a:prstGeom>
          <a:solidFill>
            <a:srgbClr val="2A3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92440" y="5321808"/>
            <a:ext cx="33832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1FB"/>
                </a:solidFill>
                <a:latin typeface="Calibri"/>
              </a:rPr>
              <a:t>3 global setpoints → 45 actuators
</a:t>
            </a:r>
            <a:r>
              <a:rPr sz="1050" b="0">
                <a:solidFill>
                  <a:srgbClr val="8AA0B8"/>
                </a:solidFill>
                <a:latin typeface="Calibri"/>
              </a:rPr>
              <a:t>CRAH supply-air temp · CRAH airflow · CHWST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" y="6400800"/>
            <a:ext cx="110916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64778C"/>
                </a:solidFill>
                <a:latin typeface="Calibri"/>
              </a:rPr>
              <a:t>GDS tropical data center · dctwin / BCVTB / Docker · FastAPI + React operator app with 3-D digital-twin 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109728"/>
          </a:xfrm>
          <a:prstGeom prst="roundRect">
            <a:avLst>
              <a:gd name="adj" fmla="val 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spc="240">
                <a:solidFill>
                  <a:srgbClr val="10B981"/>
                </a:solidFill>
                <a:latin typeface="Calibri"/>
              </a:rPr>
              <a:t>HIGH-FIDELITY, SAFE WEEKLY 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300" b="1">
                <a:solidFill>
                  <a:srgbClr val="EAF1FB"/>
                </a:solidFill>
                <a:latin typeface="Calibri"/>
              </a:rPr>
              <a:t>Closing the Fidelity &amp; Safety Gap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81328"/>
            <a:ext cx="11091672" cy="841248"/>
          </a:xfrm>
          <a:prstGeom prst="roundRect">
            <a:avLst>
              <a:gd name="adj" fmla="val 8000"/>
            </a:avLst>
          </a:prstGeom>
          <a:solidFill>
            <a:srgbClr val="241416"/>
          </a:solidFill>
          <a:ln w="1270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81328"/>
            <a:ext cx="64008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0">
                <a:solidFill>
                  <a:srgbClr val="EF4444"/>
                </a:solidFill>
                <a:latin typeface="Calibri"/>
              </a:rPr>
              <a:t>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572768"/>
            <a:ext cx="982980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EF4444"/>
                </a:solidFill>
                <a:latin typeface="Calibri"/>
              </a:rPr>
              <a:t>The gap we found:  </a:t>
            </a:r>
            <a:r>
              <a:rPr sz="1300" b="0">
                <a:solidFill>
                  <a:srgbClr val="EAF1FB"/>
                </a:solidFill>
                <a:latin typeface="Calibri"/>
              </a:rPr>
              <a:t>a twin-“feasible” plan (0 violations) ran </a:t>
            </a:r>
            <a:r>
              <a:rPr sz="1300" b="1">
                <a:solidFill>
                  <a:srgbClr val="EF4444"/>
                </a:solidFill>
                <a:latin typeface="Calibri"/>
              </a:rPr>
              <a:t>666 of 672 steps over the 26 °C cap — 13× energy</a:t>
            </a:r>
            <a:r>
              <a:rPr sz="1300" b="0">
                <a:solidFill>
                  <a:srgbClr val="EAF1FB"/>
                </a:solidFill>
                <a:latin typeface="Calibri"/>
              </a:rPr>
              <a:t> — once the real plant differed from the twin.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542032"/>
            <a:ext cx="5458968" cy="2331720"/>
          </a:xfrm>
          <a:prstGeom prst="roundRect">
            <a:avLst>
              <a:gd name="adj" fmla="val 8000"/>
            </a:avLst>
          </a:prstGeom>
          <a:solidFill>
            <a:srgbClr val="141F33"/>
          </a:solidFill>
          <a:ln w="9525">
            <a:solidFill>
              <a:srgbClr val="2A3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40" y="2542032"/>
            <a:ext cx="5458968" cy="502920"/>
          </a:xfrm>
          <a:prstGeom prst="roundRect">
            <a:avLst>
              <a:gd name="adj" fmla="val 12000"/>
            </a:avLst>
          </a:prstGeom>
          <a:solidFill>
            <a:srgbClr val="1019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542032"/>
            <a:ext cx="5001768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>
                <a:solidFill>
                  <a:srgbClr val="22C8E6"/>
                </a:solidFill>
                <a:latin typeface="Calibri"/>
              </a:rPr>
              <a:t>①  SAFETY GATE</a:t>
            </a:r>
            <a:r>
              <a:rPr sz="1100" b="0">
                <a:solidFill>
                  <a:srgbClr val="8AA0B8"/>
                </a:solidFill>
                <a:latin typeface="Calibri"/>
              </a:rPr>
              <a:t>   ·  shipped &amp; merged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3200400"/>
            <a:ext cx="274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22C8E6"/>
                </a:solidFill>
                <a:latin typeface="Calibri"/>
              </a:rPr>
              <a:t>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200400"/>
            <a:ext cx="474573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1050" b="0">
                <a:solidFill>
                  <a:srgbClr val="EAF1FB"/>
                </a:solidFill>
                <a:latin typeface="Calibri"/>
              </a:rPr>
              <a:t>Robust-feasibility deploy gate blocks any unsafe plan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3534156"/>
            <a:ext cx="274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22C8E6"/>
                </a:solidFill>
                <a:latin typeface="Calibri"/>
              </a:rPr>
              <a:t>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534156"/>
            <a:ext cx="474573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1050" b="0">
                <a:solidFill>
                  <a:srgbClr val="EAF1FB"/>
                </a:solidFill>
                <a:latin typeface="Calibri"/>
              </a:rPr>
              <a:t>Deploy-time backstop on a realized inlet breach (still learns)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3867912"/>
            <a:ext cx="274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22C8E6"/>
                </a:solidFill>
                <a:latin typeface="Calibri"/>
              </a:rPr>
              <a:t>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3867912"/>
            <a:ext cx="474573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1050" b="0">
                <a:solidFill>
                  <a:srgbClr val="EAF1FB"/>
                </a:solidFill>
                <a:latin typeface="Calibri"/>
              </a:rPr>
              <a:t>Calibration de-poison: σ-floor + raw-residual fit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" y="4201668"/>
            <a:ext cx="274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22C8E6"/>
                </a:solidFill>
                <a:latin typeface="Calibri"/>
              </a:rPr>
              <a:t>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201668"/>
            <a:ext cx="474573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1050" b="0">
                <a:solidFill>
                  <a:srgbClr val="EAF1FB"/>
                </a:solidFill>
                <a:latin typeface="Calibri"/>
              </a:rPr>
              <a:t>Pre-validation = real independent replay + report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" y="4535424"/>
            <a:ext cx="274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22C8E6"/>
                </a:solidFill>
                <a:latin typeface="Calibri"/>
              </a:rPr>
              <a:t>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4535424"/>
            <a:ext cx="474573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1050" b="0">
                <a:solidFill>
                  <a:srgbClr val="EAF1FB"/>
                </a:solidFill>
                <a:latin typeface="Calibri"/>
              </a:rPr>
              <a:t>Web-app hardening: status-gated edits, fail-closed auth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1344" y="2542032"/>
            <a:ext cx="5458968" cy="2331720"/>
          </a:xfrm>
          <a:prstGeom prst="roundRect">
            <a:avLst>
              <a:gd name="adj" fmla="val 8000"/>
            </a:avLst>
          </a:prstGeom>
          <a:solidFill>
            <a:srgbClr val="141F33"/>
          </a:solidFill>
          <a:ln w="9525">
            <a:solidFill>
              <a:srgbClr val="2A3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181344" y="2542032"/>
            <a:ext cx="5458968" cy="502920"/>
          </a:xfrm>
          <a:prstGeom prst="roundRect">
            <a:avLst>
              <a:gd name="adj" fmla="val 12000"/>
            </a:avLst>
          </a:prstGeom>
          <a:solidFill>
            <a:srgbClr val="1019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37376" y="2542032"/>
            <a:ext cx="5001768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>
                <a:solidFill>
                  <a:srgbClr val="10B981"/>
                </a:solidFill>
                <a:latin typeface="Calibri"/>
              </a:rPr>
              <a:t>②  VISIBILITY &amp; HARDENING</a:t>
            </a:r>
            <a:r>
              <a:rPr sz="1100" b="0">
                <a:solidFill>
                  <a:srgbClr val="8AA0B8"/>
                </a:solidFill>
                <a:latin typeface="Calibri"/>
              </a:rPr>
              <a:t>   ·  shipped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37376" y="3200400"/>
            <a:ext cx="274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10B981"/>
                </a:solidFill>
                <a:latin typeface="Calibri"/>
              </a:rPr>
              <a:t>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84264" y="3200400"/>
            <a:ext cx="474573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1050" b="0">
                <a:solidFill>
                  <a:srgbClr val="EAF1FB"/>
                </a:solidFill>
                <a:latin typeface="Calibri"/>
              </a:rPr>
              <a:t>Per-step inlet trajectory: nominal vs worst-case, pre-approval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37376" y="3534156"/>
            <a:ext cx="274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10B981"/>
                </a:solidFill>
                <a:latin typeface="Calibri"/>
              </a:rPr>
              <a:t>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84264" y="3534156"/>
            <a:ext cx="474573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1050" b="0">
                <a:solidFill>
                  <a:srgbClr val="EAF1FB"/>
                </a:solidFill>
                <a:latin typeface="Calibri"/>
              </a:rPr>
              <a:t>History predicted-vs-realized energy trend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37376" y="3867912"/>
            <a:ext cx="274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10B981"/>
                </a:solidFill>
                <a:latin typeface="Calibri"/>
              </a:rPr>
              <a:t>›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84264" y="3867912"/>
            <a:ext cx="474573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1050" b="0">
                <a:solidFill>
                  <a:srgbClr val="EAF1FB"/>
                </a:solidFill>
                <a:latin typeface="Calibri"/>
              </a:rPr>
              <a:t>Startup fail-fast: bad plan rejected before E+ runs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37376" y="4201668"/>
            <a:ext cx="274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10B981"/>
                </a:solidFill>
                <a:latin typeface="Calibri"/>
              </a:rPr>
              <a:t>›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84264" y="4201668"/>
            <a:ext cx="474573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1050" b="0">
                <a:solidFill>
                  <a:srgbClr val="EAF1FB"/>
                </a:solidFill>
                <a:latin typeface="Calibri"/>
              </a:rPr>
              <a:t>Real-weather forecast + honest labels &amp; uncertainty bands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37376" y="4535424"/>
            <a:ext cx="274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10B981"/>
                </a:solidFill>
                <a:latin typeface="Calibri"/>
              </a:rPr>
              <a:t>›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84264" y="4535424"/>
            <a:ext cx="474573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1050" b="0">
                <a:solidFill>
                  <a:srgbClr val="EAF1FB"/>
                </a:solidFill>
                <a:latin typeface="Calibri"/>
              </a:rPr>
              <a:t>Robust scenario error-handling + container teardown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5120640"/>
            <a:ext cx="11091672" cy="822960"/>
          </a:xfrm>
          <a:prstGeom prst="roundRect">
            <a:avLst>
              <a:gd name="adj" fmla="val 8000"/>
            </a:avLst>
          </a:prstGeom>
          <a:solidFill>
            <a:srgbClr val="10192A"/>
          </a:solidFill>
          <a:ln w="9525">
            <a:solidFill>
              <a:srgbClr val="2A3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4672" y="5120640"/>
            <a:ext cx="2361438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>
                <a:solidFill>
                  <a:srgbClr val="22C8E6"/>
                </a:solidFill>
                <a:latin typeface="Calibri"/>
              </a:rPr>
              <a:t>212
</a:t>
            </a:r>
            <a:r>
              <a:rPr sz="1100" b="0">
                <a:solidFill>
                  <a:srgbClr val="8AA0B8"/>
                </a:solidFill>
                <a:latin typeface="Calibri"/>
              </a:rPr>
              <a:t>backend tests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321558" y="5285231"/>
            <a:ext cx="18288" cy="493776"/>
          </a:xfrm>
          <a:prstGeom prst="roundRect">
            <a:avLst>
              <a:gd name="adj" fmla="val 0"/>
            </a:avLst>
          </a:prstGeom>
          <a:solidFill>
            <a:srgbClr val="2A3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577590" y="5120640"/>
            <a:ext cx="2361438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>
                <a:solidFill>
                  <a:srgbClr val="22C8E6"/>
                </a:solidFill>
                <a:latin typeface="Calibri"/>
              </a:rPr>
              <a:t>59
</a:t>
            </a:r>
            <a:r>
              <a:rPr sz="1100" b="0">
                <a:solidFill>
                  <a:srgbClr val="8AA0B8"/>
                </a:solidFill>
                <a:latin typeface="Calibri"/>
              </a:rPr>
              <a:t>frontend tests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094476" y="5285231"/>
            <a:ext cx="18288" cy="493776"/>
          </a:xfrm>
          <a:prstGeom prst="roundRect">
            <a:avLst>
              <a:gd name="adj" fmla="val 0"/>
            </a:avLst>
          </a:prstGeom>
          <a:solidFill>
            <a:srgbClr val="2A3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50508" y="5120640"/>
            <a:ext cx="2361438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EAF1FB"/>
                </a:solidFill>
                <a:latin typeface="Calibri"/>
              </a:rPr>
              <a:t>Docker
</a:t>
            </a:r>
            <a:r>
              <a:rPr sz="1100" b="0">
                <a:solidFill>
                  <a:srgbClr val="8AA0B8"/>
                </a:solidFill>
                <a:latin typeface="Calibri"/>
              </a:rPr>
              <a:t>EnergyPlus integration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867394" y="5285231"/>
            <a:ext cx="18288" cy="493776"/>
          </a:xfrm>
          <a:prstGeom prst="roundRect">
            <a:avLst>
              <a:gd name="adj" fmla="val 0"/>
            </a:avLst>
          </a:prstGeom>
          <a:solidFill>
            <a:srgbClr val="2A3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23426" y="5120640"/>
            <a:ext cx="2361438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EAF1FB"/>
                </a:solidFill>
                <a:latin typeface="Calibri"/>
              </a:rPr>
              <a:t>spec → plan → TDD
</a:t>
            </a:r>
            <a:r>
              <a:rPr sz="1100" b="0">
                <a:solidFill>
                  <a:srgbClr val="8AA0B8"/>
                </a:solidFill>
                <a:latin typeface="Calibri"/>
              </a:rPr>
              <a:t>multi-agent reviewed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6144768"/>
            <a:ext cx="110916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  <a:latin typeface="Calibri"/>
              </a:rPr>
              <a:t>Next  </a:t>
            </a:r>
            <a:r>
              <a:rPr sz="1200" b="0">
                <a:solidFill>
                  <a:srgbClr val="8AA0B8"/>
                </a:solidFill>
                <a:latin typeface="Calibri"/>
              </a:rPr>
              <a:t>real plant telemetry / BMS adapter   ·   per-hall &amp; time-block setpoints   ·   ML forecaster   ·   multi-week loop convergence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