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64008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Digital Twin Dual-Loop Control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852A"/>
                </a:solidFill>
                <a:latin typeface="Calibri"/>
              </a:rPr>
              <a:t>Physics-based weekly cooling optimization for data centers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3192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3E6"/>
                </a:solidFill>
                <a:latin typeface="Calibri"/>
              </a:rPr>
              <a:t>EnergyPlus 9.5 digital twin  ·  heuristic planner  ·  expert-supervised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3rd-draft progress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7784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3E6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 &amp; 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Why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600" b="0">
                <a:solidFill>
                  <a:srgbClr val="555555"/>
                </a:solidFill>
                <a:latin typeface="Calibri"/>
              </a:rPr>
              <a:t>•  Cooling is one of the largest energy costs in a data center; operators run conservative, fixed setpoints to stay safe — which wastes energy.</a:t>
            </a:r>
          </a:p>
          <a:p>
            <a:pPr>
              <a:lnSpc>
                <a:spcPct val="118000"/>
              </a:lnSpc>
            </a:pPr>
            <a:r>
              <a:rPr sz="1600" b="1">
                <a:solidFill>
                  <a:srgbClr val="1F3A5F"/>
                </a:solidFill>
                <a:latin typeface="Calibri"/>
              </a:rPr>
              <a:t>•  Goal: recommend, each week, the cooling setpoints that MINIMIZE energy…</a:t>
            </a:r>
          </a:p>
          <a:p>
            <a:pPr lvl="1">
              <a:lnSpc>
                <a:spcPct val="118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–  …while NEVER letting any server's inlet air exceed the 26 °C safety limit.</a:t>
            </a:r>
          </a:p>
          <a:p>
            <a:pPr>
              <a:lnSpc>
                <a:spcPct val="118000"/>
              </a:lnSpc>
            </a:pPr>
            <a:r>
              <a:rPr sz="1600" b="0">
                <a:solidFill>
                  <a:srgbClr val="555555"/>
                </a:solidFill>
                <a:latin typeface="Calibri"/>
              </a:rPr>
              <a:t>•  Approach: a physics-based digital twin + a heuristic planner + an expert-supervised web app for deployment.</a:t>
            </a:r>
          </a:p>
          <a:p>
            <a:pPr>
              <a:lnSpc>
                <a:spcPct val="118000"/>
              </a:lnSpc>
            </a:pPr>
            <a:r>
              <a:rPr sz="1600" b="1">
                <a:solidFill>
                  <a:srgbClr val="1F3A5F"/>
                </a:solidFill>
                <a:latin typeface="Calibri"/>
              </a:rPr>
              <a:t>•  Three design commitments:</a:t>
            </a:r>
          </a:p>
          <a:p>
            <a:pPr lvl="1">
              <a:lnSpc>
                <a:spcPct val="118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–  Physics-based (first-principles EnergyPlus model — not a black box / surrogate).</a:t>
            </a:r>
          </a:p>
          <a:p>
            <a:pPr lvl="1">
              <a:lnSpc>
                <a:spcPct val="118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–  Safe-by-construction (a hard temperature constraint, enforced three ways).</a:t>
            </a:r>
          </a:p>
          <a:p>
            <a:pPr lvl="1">
              <a:lnSpc>
                <a:spcPct val="118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–  Architected to connect to a real data center (a single, well-defined deployment seam).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it works: the dual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Architecture</a:t>
            </a:r>
          </a:p>
        </p:txBody>
      </p:sp>
      <p:pic>
        <p:nvPicPr>
          <p:cNvPr id="6" name="Picture 5" descr="fig3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44" y="1325880"/>
            <a:ext cx="9770806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Inner loop searches safe setpoints in simulation; outer loop validates, deploys (via the BMS seam), and learns from realized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physics-based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Physical fidelity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The twin is EnergyPlus 9.5 — the industry-standard building-physics engine — run live in Docker and coupled step-by-step to the planner (BCVTB).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1F3A5F"/>
                </a:solidFill>
                <a:latin typeface="Calibri"/>
              </a:rPr>
              <a:t>•  First-principles, not a black box: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Real building geometry + HVAC: chilled-water plant, air handlers, airflow, heat transfer.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Predicts per-rack inlet temperatures, zone temperatures, humidity, and power.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1F3A5F"/>
                </a:solidFill>
                <a:latin typeface="Calibri"/>
              </a:rPr>
              <a:t>•  Three global setpoints the planner controls: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CRAH supply-air temperature (20–26 °C) · airflow (4.8–13.8 kg/s) · chilled-water temp (13–19 °C).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Automatically broadcast to 45 individual actuators in the controlled hall.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2A8E9E"/>
                </a:solidFill>
                <a:latin typeface="Calibri"/>
              </a:rPr>
              <a:t>•  Every candidate plan is scored by a FULL-WEEK EnergyPlus simulation (parallelized across CPU processes).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 center topology — the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Physical model</a:t>
            </a:r>
          </a:p>
        </p:txBody>
      </p:sp>
      <p:pic>
        <p:nvPicPr>
          <p:cNvPr id="6" name="Picture 5" descr="fig1_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277" y="1325880"/>
            <a:ext cx="8989141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Reconstructed from the real EnergyPlus zone geometry: 7 stacked halls; the planner controls hall 1F 2A; all halls share one chilled-water plant.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 center topology — the controlled hall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Physical model</a:t>
            </a:r>
          </a:p>
        </p:txBody>
      </p:sp>
      <p:pic>
        <p:nvPicPr>
          <p:cNvPr id="6" name="Picture 5" descr="fig2_h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57" y="1325880"/>
            <a:ext cx="92887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Hall 1F 2A: 22 agent-controlled CRAHs along the walls push cold air to the server inlets; the chilled-water plant feeds the coils. Inlet temp is the safety-critical signal.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planner &amp; safety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Optimization under a hard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Coarse-to-fine beam search over the 3 setpoints — lay a grid, keep the best few, zoom in, repeat.</a:t>
            </a:r>
          </a:p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Objective = minimize cooling energy + small comfort penalties (temperature, humidity).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1F3A5F"/>
                </a:solidFill>
                <a:latin typeface="Calibri"/>
              </a:rPr>
              <a:t>•  Hard safety constraint: any week with a single step above 26 °C inlet is rejected outright.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1F3A5F"/>
                </a:solidFill>
                <a:latin typeface="Calibri"/>
              </a:rPr>
              <a:t>•  Three independent safety nets: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Hard cap during search (feasibility gate).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Robust re-check: re-simulate finalists on degraded 'weaker-than-expected plant' scenarios; keep only those safe in the worst case.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Deploy backstop: a breach on the deployed week is flagged 'deploy-blocked', never 'deployed'.</a:t>
            </a:r>
          </a:p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Optional day/night scheduling: different setpoints for day vs. night.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operator's cockpit (web app)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Expert supervision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50" b="0">
                <a:solidFill>
                  <a:srgbClr val="555555"/>
                </a:solidFill>
                <a:latin typeface="Calibri"/>
              </a:rPr>
              <a:t>•  Full-stack web app (FastAPI + React) — single sign-on with operator vs. expert roles.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1F3A5F"/>
                </a:solidFill>
                <a:latin typeface="Calibri"/>
              </a:rPr>
              <a:t>•  Six pages: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New Plan — set the week + search settings, watch the search progress LIVE (streaming).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Review — recommended setpoints, energy vs. an as-operated baseline, inlet-temperature safety trajectory.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Digital Twin 3-D — interactive 3-D view of the hall with airflow.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History / Dashboard — trends of predicted vs. realized energy across weeks.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2A8E9E"/>
                </a:solidFill>
                <a:latin typeface="Calibri"/>
              </a:rPr>
              <a:t>•  Expert workflow: approve · reject · edit setpoints · deploy — with the safety gate enforced (unsafe plans cannot be force-approved).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Result: the recommendations are physically well-posed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Validation</a:t>
            </a:r>
          </a:p>
        </p:txBody>
      </p:sp>
      <p:pic>
        <p:nvPicPr>
          <p:cNvPr id="6" name="Picture 5" descr="fig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069" y="1325880"/>
            <a:ext cx="9519557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Verified with real EnergyPlus: cooling energy responds strongly + monotonically to airflow; the search picks the cheapest point that stays under the 26 °C cap.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Status after the 3rd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What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•  BUILT &amp; TESTED (✓):  forecaster · EnergyPlus twin · beam-search planner · 3 safety nets · pre-validation · expert approve/edit/deploy workflow · 6-page web app.</a:t>
            </a:r>
          </a:p>
          <a:p>
            <a:pPr lvl="1">
              <a:lnSpc>
                <a:spcPct val="118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–  287 Python unit tests + 78 frontend tests pass; 8 Docker integration tests exercise the real EnergyPlus loop end-to-end.</a:t>
            </a:r>
          </a:p>
          <a:p>
            <a:pPr>
              <a:lnSpc>
                <a:spcPct val="118000"/>
              </a:lnSpc>
            </a:pPr>
            <a:r>
              <a:rPr sz="1500" b="1">
                <a:solidFill>
                  <a:srgbClr val="E8852A"/>
                </a:solidFill>
                <a:latin typeface="Calibri"/>
              </a:rPr>
              <a:t>•  PARTIAL (◐):  weather uses a fixed historical file (not forecast) · live telemetry monitoring · active humidity control · physics re-calibration.</a:t>
            </a:r>
          </a:p>
          <a:p>
            <a:pPr>
              <a:lnSpc>
                <a:spcPct val="118000"/>
              </a:lnSpc>
            </a:pPr>
            <a:r>
              <a:rPr sz="1500" b="1">
                <a:solidFill>
                  <a:srgbClr val="555555"/>
                </a:solidFill>
                <a:latin typeface="Calibri"/>
              </a:rPr>
              <a:t>•  NOT YET (○):  the connection to a real data center — today 'deploy' runs against a perturbed simulation, by design for this stage.</a:t>
            </a:r>
          </a:p>
          <a:p>
            <a:pPr>
              <a:lnSpc>
                <a:spcPct val="118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•  Honest fidelity caveats: deployment is simulation-to-simulation; the recirculation parameter is currently inert (safety margin is conservative/optimistic); numbers are directionally sound, not yet field-calibrated.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Ready to connect to a real data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The path to closed-loop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450" b="1">
                <a:solidFill>
                  <a:srgbClr val="1F3A5F"/>
                </a:solidFill>
                <a:latin typeface="Calibri"/>
              </a:rPr>
              <a:t>•  The deployment path is a single, well-defined seam:  BmsAdapter.apply(setpoints, week).</a:t>
            </a:r>
          </a:p>
          <a:p>
            <a:pPr>
              <a:lnSpc>
                <a:spcPct val="118000"/>
              </a:lnSpc>
            </a:pPr>
            <a:r>
              <a:rPr sz="1450" b="1">
                <a:solidFill>
                  <a:srgbClr val="1F3A5F"/>
                </a:solidFill>
                <a:latin typeface="Calibri"/>
              </a:rPr>
              <a:t>•  Everything downstream of that seam is already built and tested:</a:t>
            </a:r>
          </a:p>
          <a:p>
            <a:pPr lvl="1">
              <a:lnSpc>
                <a:spcPct val="118000"/>
              </a:lnSpc>
            </a:pPr>
            <a:r>
              <a:rPr sz="1250" b="0">
                <a:solidFill>
                  <a:srgbClr val="555555"/>
                </a:solidFill>
                <a:latin typeface="Calibri"/>
              </a:rPr>
              <a:t>–  expert approval gate · realized-KPI capture · automatic calibration ingest · deploy-blocked safety backstop.</a:t>
            </a:r>
          </a:p>
          <a:p>
            <a:pPr>
              <a:lnSpc>
                <a:spcPct val="118000"/>
              </a:lnSpc>
            </a:pPr>
            <a:r>
              <a:rPr sz="1450" b="1">
                <a:solidFill>
                  <a:srgbClr val="1F3A5F"/>
                </a:solidFill>
                <a:latin typeface="Calibri"/>
              </a:rPr>
              <a:t>•  Connect-up work (well-scoped):</a:t>
            </a:r>
          </a:p>
          <a:p>
            <a:pPr lvl="1">
              <a:lnSpc>
                <a:spcPct val="118000"/>
              </a:lnSpc>
            </a:pPr>
            <a:r>
              <a:rPr sz="1250" b="0">
                <a:solidFill>
                  <a:srgbClr val="555555"/>
                </a:solidFill>
                <a:latin typeface="Calibri"/>
              </a:rPr>
              <a:t>–  1) Implement the BMS adapter (BACnet / Modbus / vendor API) — start in shadow mode (recommend-only, no actuation).</a:t>
            </a:r>
          </a:p>
          <a:p>
            <a:pPr lvl="1">
              <a:lnSpc>
                <a:spcPct val="118000"/>
              </a:lnSpc>
            </a:pPr>
            <a:r>
              <a:rPr sz="1250" b="0">
                <a:solidFill>
                  <a:srgbClr val="555555"/>
                </a:solidFill>
                <a:latin typeface="Calibri"/>
              </a:rPr>
              <a:t>–  2) Ingest live telemetry (inlet temps, power, humidity) into the calibration loop + a live monitoring dashboard.</a:t>
            </a:r>
          </a:p>
          <a:p>
            <a:pPr lvl="1">
              <a:lnSpc>
                <a:spcPct val="118000"/>
              </a:lnSpc>
            </a:pPr>
            <a:r>
              <a:rPr sz="1250" b="0">
                <a:solidFill>
                  <a:srgbClr val="555555"/>
                </a:solidFill>
                <a:latin typeface="Calibri"/>
              </a:rPr>
              <a:t>–  3) Validate predicted vs. truly realized for several weeks, THEN enable closed-loop actuation.</a:t>
            </a:r>
          </a:p>
          <a:p>
            <a:pPr>
              <a:lnSpc>
                <a:spcPct val="118000"/>
              </a:lnSpc>
            </a:pPr>
            <a:r>
              <a:rPr sz="1450" b="1">
                <a:solidFill>
                  <a:srgbClr val="2A8E9E"/>
                </a:solidFill>
                <a:latin typeface="Calibri"/>
              </a:rPr>
              <a:t>•  Design choices that make this clean: physics-based twin (transfers to the real site), strict separation of 'recommend' vs. 'actuate', and a calibration loop already built to absorb real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Next steps, in priority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550" b="1">
                <a:solidFill>
                  <a:srgbClr val="1F3A5F"/>
                </a:solidFill>
                <a:latin typeface="Calibri"/>
              </a:rPr>
              <a:t>•  Tier A — Close the loop to reality (highest impact):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BMS adapter (shadow mode first) · real telemetry ingest · live monitoring + alerts dashboard.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1F3A5F"/>
                </a:solidFill>
                <a:latin typeface="Calibri"/>
              </a:rPr>
              <a:t>•  Tier B — Raise twin fidelity: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Fix the recirculation physics, then calibrate to measured rack inlets · activate physics re-calibration · per-rack drill-down.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1F3A5F"/>
                </a:solidFill>
                <a:latin typeface="Calibri"/>
              </a:rPr>
              <a:t>•  Tier C — Smarter planning: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Weather forecasting + uncertainty · carbon / time-of-use-tariff-aware objective.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1F3A5F"/>
                </a:solidFill>
                <a:latin typeface="Calibri"/>
              </a:rPr>
              <a:t>•  Tier D — Operator experience &amp; assurance:</a:t>
            </a:r>
          </a:p>
          <a:p>
            <a:pPr lvl="1">
              <a:lnSpc>
                <a:spcPct val="118000"/>
              </a:lnSpc>
            </a:pPr>
            <a:r>
              <a:rPr sz="1350" b="0">
                <a:solidFill>
                  <a:srgbClr val="555555"/>
                </a:solidFill>
                <a:latin typeface="Calibri"/>
              </a:rPr>
              <a:t>–  Mid-week override UI · failure explainability · end-to-end tests · a recommend-only shadow pilot.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Where the 3rd draft stands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600" b="0">
                <a:solidFill>
                  <a:srgbClr val="555555"/>
                </a:solidFill>
                <a:latin typeface="Calibri"/>
              </a:rPr>
              <a:t>•  A physics-based digital twin (EnergyPlus) + a heuristic planner + an expert-supervised web app — validated end-to-end in simulation.</a:t>
            </a:r>
          </a:p>
          <a:p>
            <a:pPr>
              <a:lnSpc>
                <a:spcPct val="118000"/>
              </a:lnSpc>
            </a:pPr>
            <a:r>
              <a:rPr sz="1600" b="0">
                <a:solidFill>
                  <a:srgbClr val="555555"/>
                </a:solidFill>
                <a:latin typeface="Calibri"/>
              </a:rPr>
              <a:t>•  Safe-by-construction: a hard 26 °C inlet limit enforced by three independent nets.</a:t>
            </a:r>
          </a:p>
          <a:p>
            <a:pPr>
              <a:lnSpc>
                <a:spcPct val="118000"/>
              </a:lnSpc>
            </a:pPr>
            <a:r>
              <a:rPr sz="1600" b="0">
                <a:solidFill>
                  <a:srgbClr val="555555"/>
                </a:solidFill>
                <a:latin typeface="Calibri"/>
              </a:rPr>
              <a:t>•  Recommendations are physically well-posed and directionally sound (e.g. +3.2% energy saving with zero violations); not yet field-calibrated.</a:t>
            </a:r>
          </a:p>
          <a:p>
            <a:pPr>
              <a:lnSpc>
                <a:spcPct val="118000"/>
              </a:lnSpc>
            </a:pPr>
            <a:r>
              <a:rPr sz="1600" b="1">
                <a:solidFill>
                  <a:srgbClr val="2A8E9E"/>
                </a:solidFill>
                <a:latin typeface="Calibri"/>
              </a:rPr>
              <a:t>•  Architected and ready to connect to a real data center through one adapter seam — shadow mode first, then closed loop.</a:t>
            </a:r>
          </a:p>
          <a:p>
            <a:pPr>
              <a:lnSpc>
                <a:spcPct val="118000"/>
              </a:lnSpc>
            </a:pPr>
            <a:r>
              <a:rPr sz="1600" b="1">
                <a:solidFill>
                  <a:srgbClr val="1F3A5F"/>
                </a:solidFill>
                <a:latin typeface="Calibri"/>
              </a:rPr>
              <a:t>•  Next: connect telemetry + BMS, raise fidelity (recirculation calibration), and run a shadow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